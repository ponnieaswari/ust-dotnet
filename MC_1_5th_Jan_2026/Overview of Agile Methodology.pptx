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19"/>
  </p:notesMasterIdLst>
  <p:handoutMasterIdLst>
    <p:handoutMasterId r:id="rId20"/>
  </p:handout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D6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5" autoAdjust="0"/>
    <p:restoredTop sz="83977" autoAdjust="0"/>
  </p:normalViewPr>
  <p:slideViewPr>
    <p:cSldViewPr>
      <p:cViewPr varScale="1">
        <p:scale>
          <a:sx n="61" d="100"/>
          <a:sy n="61" d="100"/>
        </p:scale>
        <p:origin x="175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DFCCD24-F7B1-43B7-8D70-BFC52DD44340}" type="datetimeFigureOut">
              <a:rPr lang="en-US"/>
              <a:pPr>
                <a:defRPr/>
              </a:pPr>
              <a:t>1/1/2026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CD4E103-8EC7-4663-86FB-1483862DC6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539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FB074BC-27EC-41FA-B00E-F642C9A7886E}" type="datetimeFigureOut">
              <a:rPr lang="en-US"/>
              <a:pPr>
                <a:defRPr/>
              </a:pPr>
              <a:t>1/1/2026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591F15A-49E5-4291-9E69-520AB8CD9C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412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This template can be used as a starter file for presenting training materials in a group setting.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eaLnBrk="1" hangingPunct="1">
              <a:spcBef>
                <a:spcPct val="0"/>
              </a:spcBef>
            </a:pPr>
            <a:r>
              <a:rPr lang="en-US" b="1"/>
              <a:t>Sections</a:t>
            </a:r>
            <a:endParaRPr lang="en-US"/>
          </a:p>
          <a:p>
            <a:pPr eaLnBrk="1" hangingPunct="1">
              <a:spcBef>
                <a:spcPct val="0"/>
              </a:spcBef>
            </a:pPr>
            <a:r>
              <a:rPr lang="en-US"/>
              <a:t>Right-click on a slide to add sections. Sections can help to organize your slides or facilitate collaboration between multiple authors.</a:t>
            </a:r>
          </a:p>
          <a:p>
            <a:pPr eaLnBrk="1" hangingPunct="1">
              <a:spcBef>
                <a:spcPct val="0"/>
              </a:spcBef>
            </a:pPr>
            <a:endParaRPr lang="en-US" b="1"/>
          </a:p>
          <a:p>
            <a:pPr eaLnBrk="1" hangingPunct="1">
              <a:spcBef>
                <a:spcPct val="0"/>
              </a:spcBef>
            </a:pPr>
            <a:r>
              <a:rPr lang="en-US" b="1"/>
              <a:t>Notes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Use the Notes section for delivery notes or to provide additional details for the audience. View these notes in Presentation View during your presentation. 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Keep in mind the font size (important for accessibility, visibility, videotaping, and online production)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eaLnBrk="1" hangingPunct="1">
              <a:spcBef>
                <a:spcPct val="0"/>
              </a:spcBef>
            </a:pPr>
            <a:r>
              <a:rPr lang="en-US" b="1"/>
              <a:t>Coordinated colors 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Pay particular attention to the graphs, charts, and text boxes. 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Consider that attendees will print in black and white or grayscale. Run a test print to make sure your colors work when printed in pure black and white and grayscale.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eaLnBrk="1" hangingPunct="1">
              <a:spcBef>
                <a:spcPct val="0"/>
              </a:spcBef>
            </a:pPr>
            <a:r>
              <a:rPr lang="en-US" b="1"/>
              <a:t>Graphics, tables, and graphs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Keep it simple: If possible, use consistent, non-distracting styles and colors.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Label all graphs and tables.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eaLnBrk="1" hangingPunct="1">
              <a:spcBef>
                <a:spcPct val="0"/>
              </a:spcBef>
            </a:pPr>
            <a:endParaRPr lang="en-US"/>
          </a:p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A6D0A6-5B60-484B-A4E0-209DFE3CBF83}" type="slidenum">
              <a:rPr lang="en-US" smtClean="0">
                <a:latin typeface="Calibri" panose="020F0502020204030204" pitchFamily="34" charset="0"/>
              </a:rPr>
              <a:pPr/>
              <a:t>1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557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612775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351177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1270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638175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28650" y="1282700"/>
            <a:ext cx="7886700" cy="50038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>
                  <a:lumMod val="75000"/>
                </a:schemeClr>
              </a:buClr>
              <a:buSzPct val="110000"/>
              <a:buFont typeface="Courier New" panose="02070309020205020404" pitchFamily="49" charset="0"/>
              <a:buChar char="o"/>
              <a:defRPr sz="135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120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857250" indent="-171450">
              <a:buFont typeface="Arial" panose="020B0604020202020204" pitchFamily="34" charset="0"/>
              <a:buChar char="–"/>
              <a:defRPr sz="105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4482673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y S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282700"/>
            <a:ext cx="3257550" cy="5143500"/>
          </a:xfrm>
          <a:prstGeom prst="rect">
            <a:avLst/>
          </a:prstGeom>
        </p:spPr>
        <p:txBody>
          <a:bodyPr/>
          <a:lstStyle>
            <a:lvl1pPr>
              <a:defRPr lang="en-US" sz="135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>
              <a:defRPr lang="en-US" sz="120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>
              <a:defRPr lang="en-US" sz="105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638175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5267325" y="1282700"/>
            <a:ext cx="3257550" cy="5143500"/>
          </a:xfrm>
          <a:prstGeom prst="rect">
            <a:avLst/>
          </a:prstGeom>
        </p:spPr>
        <p:txBody>
          <a:bodyPr/>
          <a:lstStyle>
            <a:lvl1pPr>
              <a:defRPr lang="en-US" sz="135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>
              <a:defRPr lang="en-US" sz="120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>
              <a:defRPr lang="en-US" sz="1050" dirty="0" smtClean="0">
                <a:solidFill>
                  <a:schemeClr val="bg2">
                    <a:lumMod val="1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4014328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16415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638175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0"/>
          </p:nvPr>
        </p:nvSpPr>
        <p:spPr>
          <a:xfrm>
            <a:off x="628650" y="1295400"/>
            <a:ext cx="7886700" cy="4851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77374847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690688" y="3606800"/>
            <a:ext cx="57626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690688" y="3041256"/>
            <a:ext cx="5762625" cy="565544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361856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jec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176588" y="3606800"/>
            <a:ext cx="57626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6072" y="2882900"/>
            <a:ext cx="5762625" cy="723900"/>
          </a:xfrm>
          <a:prstGeom prst="rect">
            <a:avLst/>
          </a:prstGeom>
        </p:spPr>
        <p:txBody>
          <a:bodyPr/>
          <a:lstStyle>
            <a:lvl1pPr algn="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32706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032000"/>
            <a:ext cx="9144000" cy="722313"/>
          </a:xfrm>
          <a:prstGeom prst="rect">
            <a:avLst/>
          </a:prstGeom>
          <a:solidFill>
            <a:srgbClr val="0038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690688" y="3606800"/>
            <a:ext cx="57626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690688" y="3041256"/>
            <a:ext cx="5762625" cy="565544"/>
          </a:xfrm>
          <a:prstGeom prst="rect">
            <a:avLst/>
          </a:prstGeom>
        </p:spPr>
        <p:txBody>
          <a:bodyPr/>
          <a:lstStyle>
            <a:lvl1pPr algn="ctr">
              <a:defRPr sz="2700" cap="small" baseline="0">
                <a:solidFill>
                  <a:srgbClr val="C0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88346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6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</p:sldLayoutIdLst>
  <p:transition spd="slow">
    <p:wipe dir="d"/>
  </p:transition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690688" y="3041650"/>
            <a:ext cx="5762625" cy="175895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>
                <a:latin typeface="+mn-lt"/>
                <a:cs typeface="Aharoni" pitchFamily="2" charset="-79"/>
              </a:rPr>
              <a:t>Overview of Agile Methodology</a:t>
            </a:r>
            <a:endParaRPr sz="4400" dirty="0">
              <a:latin typeface="+mn-lt"/>
              <a:cs typeface="Aharoni" pitchFamily="2" charset="-79"/>
            </a:endParaRPr>
          </a:p>
        </p:txBody>
      </p:sp>
    </p:spTree>
    <p:custDataLst>
      <p:tags r:id="rId1"/>
    </p:custDataLst>
  </p:cSld>
  <p:clrMapOvr>
    <a:masterClrMapping/>
  </p:clrMapOvr>
  <p:transition spd="slow" advTm="6043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Lucida Sans" panose="020B0602030504020204" pitchFamily="34" charset="0"/>
              </a:rPr>
              <a:t>Software development processes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Lucida Sans" panose="020B0602030504020204" pitchFamily="34" charset="0"/>
              </a:rPr>
              <a:t>Water Fall Model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Lucida Sans" panose="020B0602030504020204" pitchFamily="34" charset="0"/>
              </a:rPr>
              <a:t>Agile Model</a:t>
            </a:r>
          </a:p>
        </p:txBody>
      </p:sp>
    </p:spTree>
    <p:extLst>
      <p:ext uri="{BB962C8B-B14F-4D97-AF65-F5344CB8AC3E}">
        <p14:creationId xmlns:p14="http://schemas.microsoft.com/office/powerpoint/2010/main" val="3188381996"/>
      </p:ext>
    </p:extLst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Waterfall Development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99" y="1077749"/>
            <a:ext cx="8100001" cy="486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59044"/>
      </p:ext>
    </p:extLst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Waterfall Development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99" y="1049624"/>
            <a:ext cx="7920001" cy="475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64913"/>
      </p:ext>
    </p:extLst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9" y="565874"/>
            <a:ext cx="8190001" cy="572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80941"/>
      </p:ext>
    </p:extLst>
  </p:cSld>
  <p:clrMapOvr>
    <a:masterClrMapping/>
  </p:clrMapOvr>
  <p:transition spd="slow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99" y="1353375"/>
            <a:ext cx="7650001" cy="41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66772"/>
      </p:ext>
    </p:extLst>
  </p:cSld>
  <p:clrMapOvr>
    <a:masterClrMapping/>
  </p:clrMapOvr>
  <p:transition spd="slow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Manifesto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99" y="1043999"/>
            <a:ext cx="7875001" cy="477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31119"/>
      </p:ext>
    </p:extLst>
  </p:cSld>
  <p:clrMapOvr>
    <a:masterClrMapping/>
  </p:clrMapOvr>
  <p:transition spd="slow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Umbrella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99" y="1003303"/>
            <a:ext cx="8460001" cy="505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48208"/>
      </p:ext>
    </p:extLst>
  </p:cSld>
  <p:clrMapOvr>
    <a:masterClrMapping/>
  </p:clrMapOvr>
  <p:transition spd="slow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99" y="1003303"/>
            <a:ext cx="8010001" cy="512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63513"/>
      </p:ext>
    </p:extLst>
  </p:cSld>
  <p:clrMapOvr>
    <a:masterClrMapping/>
  </p:clrMapOvr>
  <p:transition spd="slow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52400"/>
            <a:ext cx="7886700" cy="638175"/>
          </a:xfrm>
        </p:spPr>
        <p:txBody>
          <a:bodyPr/>
          <a:lstStyle/>
          <a:p>
            <a:r>
              <a:rPr lang="en-US" dirty="0"/>
              <a:t>Agile - Planning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99" y="1004624"/>
            <a:ext cx="8010001" cy="484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458214"/>
      </p:ext>
    </p:extLst>
  </p:cSld>
  <p:clrMapOvr>
    <a:masterClrMapping/>
  </p:clrMapOvr>
  <p:transition spd="slow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</a:t>
            </a:r>
            <a:r>
              <a:rPr lang="en-US" dirty="0" err="1"/>
              <a:t>vs</a:t>
            </a:r>
            <a:r>
              <a:rPr lang="en-US" dirty="0"/>
              <a:t> Waterfall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99" y="1342125"/>
            <a:ext cx="6390001" cy="417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53517"/>
      </p:ext>
    </p:extLst>
  </p:cSld>
  <p:clrMapOvr>
    <a:masterClrMapping/>
  </p:clrMapOvr>
  <p:transition spd="slow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99" y="560249"/>
            <a:ext cx="7425001" cy="573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04561"/>
      </p:ext>
    </p:extLst>
  </p:cSld>
  <p:clrMapOvr>
    <a:masterClrMapping/>
  </p:clrMapOvr>
  <p:transition spd="slow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we do in Scrum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99" y="976499"/>
            <a:ext cx="8100001" cy="4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74591"/>
      </p:ext>
    </p:extLst>
  </p:cSld>
  <p:clrMapOvr>
    <a:masterClrMapping/>
  </p:clrMapOvr>
  <p:transition spd="slow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99" y="1003303"/>
            <a:ext cx="8280001" cy="538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5731"/>
      </p:ext>
    </p:extLst>
  </p:cSld>
  <p:clrMapOvr>
    <a:masterClrMapping/>
  </p:clrMapOvr>
  <p:transition spd="slow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Planning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9" y="1179000"/>
            <a:ext cx="8190001" cy="49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54428"/>
      </p:ext>
    </p:extLst>
  </p:cSld>
  <p:clrMapOvr>
    <a:masterClrMapping/>
  </p:clrMapOvr>
  <p:transition spd="slow"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in a Nut Shell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295400"/>
            <a:ext cx="8010001" cy="502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37050"/>
      </p:ext>
    </p:extLst>
  </p:cSld>
  <p:clrMapOvr>
    <a:masterClrMapping/>
  </p:clrMapOvr>
  <p:transition spd="slow"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261492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heme/theme1.xml><?xml version="1.0" encoding="utf-8"?>
<a:theme xmlns:a="http://schemas.openxmlformats.org/drawingml/2006/main" name="CP New 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P New Theme1" id="{4F4DFF23-F26B-4DBF-A5B7-39C8BCF6F7AE}" vid="{E3BD4C1A-DE48-4E7A-954D-1D53C90350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CP New Theme1</Template>
  <TotalTime>3600</TotalTime>
  <Words>206</Words>
  <Application>Microsoft Office PowerPoint</Application>
  <PresentationFormat>On-screen Show (4:3)</PresentationFormat>
  <Paragraphs>35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Lucida Sans</vt:lpstr>
      <vt:lpstr>Lucida Sans Unicode</vt:lpstr>
      <vt:lpstr>Wingdings</vt:lpstr>
      <vt:lpstr>CP New Theme1</vt:lpstr>
      <vt:lpstr>Overview of Agile Methodology</vt:lpstr>
      <vt:lpstr>Objectives</vt:lpstr>
      <vt:lpstr>Waterfall Development</vt:lpstr>
      <vt:lpstr>Waterfall Development</vt:lpstr>
      <vt:lpstr>PowerPoint Presentation</vt:lpstr>
      <vt:lpstr>Agile</vt:lpstr>
      <vt:lpstr>Agile Manifesto</vt:lpstr>
      <vt:lpstr>Agile Umbrella</vt:lpstr>
      <vt:lpstr>Scrum</vt:lpstr>
      <vt:lpstr>Agile - Planning</vt:lpstr>
      <vt:lpstr>Scrum vs Waterfall</vt:lpstr>
      <vt:lpstr>PowerPoint Presentation</vt:lpstr>
      <vt:lpstr>Things we do in Scrum</vt:lpstr>
      <vt:lpstr>PowerPoint Presentation</vt:lpstr>
      <vt:lpstr>Scrum Planning Example</vt:lpstr>
      <vt:lpstr>Scrum in a Nut Shell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SECURITY</dc:title>
  <dc:creator/>
  <cp:lastModifiedBy>ponnieaswari MS</cp:lastModifiedBy>
  <cp:revision>2</cp:revision>
  <dcterms:created xsi:type="dcterms:W3CDTF">2012-07-16T07:14:00Z</dcterms:created>
  <dcterms:modified xsi:type="dcterms:W3CDTF">2026-01-04T15:29:22Z</dcterms:modified>
</cp:coreProperties>
</file>